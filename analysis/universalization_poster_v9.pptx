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0275213" cy="42803763"/>
  <p:notesSz cx="42803763" cy="302752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F6368"/>
    <a:srgbClr val="D45087"/>
    <a:srgbClr val="8F63B8"/>
    <a:srgbClr val="4E79A7"/>
    <a:srgbClr val="2A9D8F"/>
    <a:srgbClr val="59A14F"/>
    <a:srgbClr val="EDC948"/>
    <a:srgbClr val="F28E2B"/>
    <a:srgbClr val="E4575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5283"/>
    <p:restoredTop sz="94610"/>
  </p:normalViewPr>
  <p:slideViewPr>
    <p:cSldViewPr snapToGrid="0" snapToObjects="1">
      <p:cViewPr>
        <p:scale>
          <a:sx n="63" d="100"/>
          <a:sy n="63" d="100"/>
        </p:scale>
        <p:origin x="1696" y="-9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1874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20391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20212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How do people universalize?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914400" y="2148840"/>
            <a:ext cx="2011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i="1" dirty="0">
                <a:solidFill>
                  <a:srgbClr val="5F636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Comparing resource-rational models of moral reasoning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2039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Julien Lie-Panis</a:t>
            </a:r>
            <a:r>
              <a:rPr lang="en-US" sz="2600" dirty="0">
                <a:solidFill>
                  <a:srgbClr val="20212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¹˒² · Logan A. Walls³ · Joshua B. Tenenbaum¹ · Katherine M. Collins¹ · Sydney Levine³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3538728"/>
            <a:ext cx="2148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5F636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¹ Center for Brains, Minds and Machines, MIT   ² </a:t>
            </a:r>
            <a:r>
              <a:rPr lang="en-US" sz="2100" dirty="0" err="1">
                <a:solidFill>
                  <a:srgbClr val="5F636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Institut</a:t>
            </a:r>
            <a:r>
              <a:rPr lang="en-US" sz="2100" dirty="0">
                <a:solidFill>
                  <a:srgbClr val="5F636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 de </a:t>
            </a:r>
            <a:r>
              <a:rPr lang="en-US" sz="2100" dirty="0" err="1">
                <a:solidFill>
                  <a:srgbClr val="5F636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Biologie</a:t>
            </a:r>
            <a:r>
              <a:rPr lang="en-US" sz="2100" dirty="0">
                <a:solidFill>
                  <a:srgbClr val="5F636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 de </a:t>
            </a:r>
            <a:r>
              <a:rPr lang="en-US" sz="2100" dirty="0" err="1">
                <a:solidFill>
                  <a:srgbClr val="5F636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l’Ecole</a:t>
            </a:r>
            <a:r>
              <a:rPr lang="en-US" sz="2100" dirty="0">
                <a:solidFill>
                  <a:srgbClr val="5F636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 Normale Supérieure, ENS–PSL   ³ Department of Psychology, New York University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3968496"/>
            <a:ext cx="2148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315E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CogSci 2026 · Rio de Janeiro · Poster P1-M-122 · Session 1, Thu July 23</a:t>
            </a:r>
            <a:endParaRPr lang="en-US" sz="2100" dirty="0"/>
          </a:p>
        </p:txBody>
      </p:sp>
      <p:sp>
        <p:nvSpPr>
          <p:cNvPr id="10" name="Shape 5"/>
          <p:cNvSpPr/>
          <p:nvPr/>
        </p:nvSpPr>
        <p:spPr>
          <a:xfrm>
            <a:off x="914400" y="4663440"/>
            <a:ext cx="9238488" cy="1874520"/>
          </a:xfrm>
          <a:prstGeom prst="roundRect">
            <a:avLst>
              <a:gd name="adj" fmla="val 5854"/>
            </a:avLst>
          </a:prstGeom>
          <a:solidFill>
            <a:srgbClr val="E8F0EF"/>
          </a:solidFill>
          <a:ln w="15875">
            <a:solidFill>
              <a:srgbClr val="D8D4C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Shape 6"/>
          <p:cNvSpPr/>
          <p:nvPr/>
        </p:nvSpPr>
        <p:spPr>
          <a:xfrm>
            <a:off x="1207008" y="5216652"/>
            <a:ext cx="768096" cy="768096"/>
          </a:xfrm>
          <a:prstGeom prst="ellipse">
            <a:avLst/>
          </a:prstGeom>
          <a:solidFill>
            <a:srgbClr val="315E63"/>
          </a:solidFill>
          <a:ln w="12700">
            <a:solidFill>
              <a:srgbClr val="315E63"/>
            </a:solidFill>
            <a:prstDash val="solid"/>
          </a:ln>
        </p:spPr>
        <p:txBody>
          <a:bodyPr lIns="0" tIns="0" rIns="0" bIns="0"/>
          <a:lstStyle/>
          <a:p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1207008" y="5212081"/>
            <a:ext cx="768096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</a:t>
            </a:r>
            <a:endParaRPr lang="en-US" sz="4000" dirty="0"/>
          </a:p>
        </p:txBody>
      </p:sp>
      <p:sp>
        <p:nvSpPr>
          <p:cNvPr id="13" name="Text 8"/>
          <p:cNvSpPr/>
          <p:nvPr/>
        </p:nvSpPr>
        <p:spPr>
          <a:xfrm>
            <a:off x="2194560" y="4773168"/>
            <a:ext cx="7684008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900"/>
              </a:lnSpc>
            </a:pPr>
            <a:r>
              <a:rPr lang="en-US" sz="2800" dirty="0">
                <a:solidFill>
                  <a:srgbClr val="20212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To decide when it’s OK to </a:t>
            </a:r>
            <a:r>
              <a:rPr lang="en-US" sz="2800" b="1" dirty="0">
                <a:solidFill>
                  <a:srgbClr val="20212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break a rule</a:t>
            </a:r>
            <a:r>
              <a:rPr lang="en-US" sz="2800" dirty="0">
                <a:solidFill>
                  <a:srgbClr val="20212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, people can universalize, asking </a:t>
            </a:r>
            <a:r>
              <a:rPr lang="en-US" sz="2800" b="1" dirty="0">
                <a:solidFill>
                  <a:srgbClr val="315E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“What if everyone could do that?”</a:t>
            </a:r>
            <a:endParaRPr lang="en-US" sz="2800" b="1" dirty="0">
              <a:solidFill>
                <a:srgbClr val="315E63"/>
              </a:solidFill>
            </a:endParaRPr>
          </a:p>
        </p:txBody>
      </p:sp>
      <p:sp>
        <p:nvSpPr>
          <p:cNvPr id="14" name="Shape 9"/>
          <p:cNvSpPr/>
          <p:nvPr/>
        </p:nvSpPr>
        <p:spPr>
          <a:xfrm>
            <a:off x="10530223" y="4721315"/>
            <a:ext cx="9238488" cy="1874520"/>
          </a:xfrm>
          <a:prstGeom prst="roundRect">
            <a:avLst>
              <a:gd name="adj" fmla="val 5854"/>
            </a:avLst>
          </a:prstGeom>
          <a:solidFill>
            <a:srgbClr val="E8F0EF"/>
          </a:solidFill>
          <a:ln w="15875">
            <a:solidFill>
              <a:srgbClr val="D8D4C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Shape 10"/>
          <p:cNvSpPr/>
          <p:nvPr/>
        </p:nvSpPr>
        <p:spPr>
          <a:xfrm>
            <a:off x="10811256" y="5248656"/>
            <a:ext cx="768096" cy="768096"/>
          </a:xfrm>
          <a:prstGeom prst="ellipse">
            <a:avLst/>
          </a:prstGeom>
          <a:solidFill>
            <a:srgbClr val="315E63"/>
          </a:solidFill>
          <a:ln w="12700">
            <a:solidFill>
              <a:srgbClr val="315E63"/>
            </a:solidFill>
            <a:prstDash val="solid"/>
          </a:ln>
        </p:spPr>
        <p:txBody>
          <a:bodyPr lIns="360000" tIns="3600000" rIns="0" bIns="0"/>
          <a:lstStyle/>
          <a:p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10811256" y="5248655"/>
            <a:ext cx="768096" cy="7680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</a:t>
            </a:r>
            <a:endParaRPr lang="en-US" sz="4000" dirty="0"/>
          </a:p>
        </p:txBody>
      </p:sp>
      <p:sp>
        <p:nvSpPr>
          <p:cNvPr id="17" name="Text 12"/>
          <p:cNvSpPr/>
          <p:nvPr/>
        </p:nvSpPr>
        <p:spPr>
          <a:xfrm>
            <a:off x="11798808" y="4773168"/>
            <a:ext cx="7684008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900"/>
              </a:lnSpc>
              <a:buNone/>
            </a:pPr>
            <a:r>
              <a:rPr lang="en-US" sz="2800" dirty="0">
                <a:solidFill>
                  <a:srgbClr val="20212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 </a:t>
            </a:r>
            <a:r>
              <a:rPr lang="en-US" sz="2800" b="1" dirty="0">
                <a:solidFill>
                  <a:srgbClr val="315E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shallow prediction heuristic </a:t>
            </a:r>
            <a:r>
              <a:rPr lang="en-US" sz="2800" dirty="0">
                <a:solidFill>
                  <a:srgbClr val="20212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best captures people’s universalizability judgments (n=43)</a:t>
            </a:r>
            <a:endParaRPr lang="en-US" sz="2800" dirty="0"/>
          </a:p>
        </p:txBody>
      </p:sp>
      <p:sp>
        <p:nvSpPr>
          <p:cNvPr id="18" name="Shape 13"/>
          <p:cNvSpPr/>
          <p:nvPr/>
        </p:nvSpPr>
        <p:spPr>
          <a:xfrm>
            <a:off x="20122896" y="4663440"/>
            <a:ext cx="9238488" cy="1874520"/>
          </a:xfrm>
          <a:prstGeom prst="roundRect">
            <a:avLst>
              <a:gd name="adj" fmla="val 5854"/>
            </a:avLst>
          </a:prstGeom>
          <a:solidFill>
            <a:srgbClr val="E8F0EF"/>
          </a:solidFill>
          <a:ln w="15875">
            <a:solidFill>
              <a:srgbClr val="D8D4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4"/>
          <p:cNvSpPr/>
          <p:nvPr/>
        </p:nvSpPr>
        <p:spPr>
          <a:xfrm>
            <a:off x="20415504" y="5216652"/>
            <a:ext cx="768096" cy="768096"/>
          </a:xfrm>
          <a:prstGeom prst="ellipse">
            <a:avLst/>
          </a:prstGeom>
          <a:solidFill>
            <a:srgbClr val="315E63"/>
          </a:solidFill>
          <a:ln w="12700">
            <a:solidFill>
              <a:srgbClr val="315E63"/>
            </a:solidFill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20415504" y="521665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</a:t>
            </a:r>
            <a:endParaRPr lang="en-US" sz="4000" dirty="0"/>
          </a:p>
        </p:txBody>
      </p:sp>
      <p:sp>
        <p:nvSpPr>
          <p:cNvPr id="21" name="Text 16"/>
          <p:cNvSpPr/>
          <p:nvPr/>
        </p:nvSpPr>
        <p:spPr>
          <a:xfrm>
            <a:off x="21403056" y="4773168"/>
            <a:ext cx="7684008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900"/>
              </a:lnSpc>
              <a:buNone/>
            </a:pPr>
            <a:r>
              <a:rPr lang="en-US" sz="2800" dirty="0">
                <a:solidFill>
                  <a:srgbClr val="20212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same heuristic helps explain </a:t>
            </a:r>
            <a:r>
              <a:rPr lang="en-US" sz="2800" b="1" dirty="0">
                <a:solidFill>
                  <a:srgbClr val="00000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moral judgments across 20 countries</a:t>
            </a:r>
            <a:r>
              <a:rPr lang="en-US" sz="2800" dirty="0">
                <a:solidFill>
                  <a:srgbClr val="315E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 </a:t>
            </a:r>
            <a:r>
              <a:rPr lang="en-US" sz="2800" dirty="0">
                <a:solidFill>
                  <a:srgbClr val="20212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(n=2,059)</a:t>
            </a:r>
            <a:endParaRPr lang="en-US" sz="2800" dirty="0"/>
          </a:p>
        </p:txBody>
      </p:sp>
      <p:sp>
        <p:nvSpPr>
          <p:cNvPr id="22" name="Text 17"/>
          <p:cNvSpPr/>
          <p:nvPr/>
        </p:nvSpPr>
        <p:spPr>
          <a:xfrm>
            <a:off x="914400" y="6995160"/>
            <a:ext cx="1371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How do people compute the universalized world?</a:t>
            </a:r>
            <a:endParaRPr lang="en-US" sz="3400" dirty="0">
              <a:solidFill>
                <a:srgbClr val="000000"/>
              </a:solidFill>
            </a:endParaRPr>
          </a:p>
        </p:txBody>
      </p:sp>
      <p:sp>
        <p:nvSpPr>
          <p:cNvPr id="23" name="Shape 18"/>
          <p:cNvSpPr/>
          <p:nvPr/>
        </p:nvSpPr>
        <p:spPr>
          <a:xfrm>
            <a:off x="914400" y="7772400"/>
            <a:ext cx="13716000" cy="0"/>
          </a:xfrm>
          <a:prstGeom prst="line">
            <a:avLst/>
          </a:prstGeom>
          <a:noFill/>
          <a:ln w="25400">
            <a:solidFill>
              <a:srgbClr val="D8D4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9"/>
          <p:cNvSpPr/>
          <p:nvPr/>
        </p:nvSpPr>
        <p:spPr>
          <a:xfrm>
            <a:off x="914400" y="8095098"/>
            <a:ext cx="13716000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dirty="0">
                <a:latin typeface="Avenir Next" panose="020B0503020202020204" pitchFamily="34" charset="0"/>
              </a:rPr>
              <a:t>Universalization requires imagining a </a:t>
            </a:r>
            <a:r>
              <a:rPr lang="en-US" sz="2400" b="1" dirty="0">
                <a:solidFill>
                  <a:srgbClr val="315E63"/>
                </a:solidFill>
                <a:latin typeface="Avenir Next" panose="020B0503020202020204" pitchFamily="34" charset="0"/>
              </a:rPr>
              <a:t>counterfactual social world</a:t>
            </a:r>
            <a:r>
              <a:rPr lang="en-US" sz="2400" dirty="0">
                <a:solidFill>
                  <a:srgbClr val="315E63"/>
                </a:solidFill>
                <a:latin typeface="Avenir Next" panose="020B0503020202020204" pitchFamily="34" charset="0"/>
              </a:rPr>
              <a:t> </a:t>
            </a:r>
            <a:r>
              <a:rPr lang="en-US" sz="2400" dirty="0">
                <a:latin typeface="Avenir Next" panose="020B0503020202020204" pitchFamily="34" charset="0"/>
              </a:rPr>
              <a:t>in which a familiar rule no longer constrains behavior. When someone cuts in line, observers may evaluate the action by imagining a world in which people stop respecting the queue entirely. In that world, each person plans while anticipating the movements of others, who may themselves be doing the same. </a:t>
            </a:r>
            <a:r>
              <a:rPr lang="en-US" sz="2400" b="1" dirty="0">
                <a:latin typeface="Avenir Next" panose="020B0503020202020204" pitchFamily="34" charset="0"/>
              </a:rPr>
              <a:t>How much of that world do people actually represent?</a:t>
            </a:r>
            <a:r>
              <a:rPr lang="en-US" sz="2400" dirty="0">
                <a:latin typeface="Avenir Next" panose="020B0503020202020204" pitchFamily="34" charset="0"/>
              </a:rPr>
              <a:t> We compare models that vary how far agents predict ahead and how they represent others.</a:t>
            </a:r>
          </a:p>
        </p:txBody>
      </p:sp>
      <p:sp>
        <p:nvSpPr>
          <p:cNvPr id="42" name="Text 35"/>
          <p:cNvSpPr/>
          <p:nvPr/>
        </p:nvSpPr>
        <p:spPr>
          <a:xfrm>
            <a:off x="914400" y="11111666"/>
            <a:ext cx="14090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Task: What if everyone left the line?</a:t>
            </a:r>
            <a:endParaRPr lang="en-US" sz="3400" dirty="0">
              <a:solidFill>
                <a:srgbClr val="000000"/>
              </a:solidFill>
            </a:endParaRPr>
          </a:p>
        </p:txBody>
      </p:sp>
      <p:sp>
        <p:nvSpPr>
          <p:cNvPr id="43" name="Shape 36"/>
          <p:cNvSpPr/>
          <p:nvPr/>
        </p:nvSpPr>
        <p:spPr>
          <a:xfrm>
            <a:off x="914400" y="11888906"/>
            <a:ext cx="14090904" cy="0"/>
          </a:xfrm>
          <a:prstGeom prst="line">
            <a:avLst/>
          </a:prstGeom>
          <a:noFill/>
          <a:ln w="25400">
            <a:solidFill>
              <a:srgbClr val="D8D4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37"/>
          <p:cNvSpPr/>
          <p:nvPr/>
        </p:nvSpPr>
        <p:spPr>
          <a:xfrm>
            <a:off x="914400" y="12210220"/>
            <a:ext cx="14090904" cy="1369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2400" dirty="0">
                <a:solidFill>
                  <a:srgbClr val="20212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Participants each watched 39 different videos in which agents collect water and fill buckets, earning more the faster they finish. One </a:t>
            </a:r>
            <a:r>
              <a:rPr lang="en-US" sz="2400" b="1" dirty="0">
                <a:solidFill>
                  <a:srgbClr val="C0000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focal agent </a:t>
            </a:r>
            <a:r>
              <a:rPr lang="en-US" sz="2400" dirty="0">
                <a:solidFill>
                  <a:srgbClr val="20212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leaves the line (</a:t>
            </a:r>
            <a:r>
              <a:rPr lang="en-US" sz="2400" b="1" dirty="0">
                <a:solidFill>
                  <a:srgbClr val="C0000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red path</a:t>
            </a:r>
            <a:r>
              <a:rPr lang="en-US" sz="2400" dirty="0">
                <a:solidFill>
                  <a:srgbClr val="20212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); the others wait their turn (</a:t>
            </a:r>
            <a:r>
              <a:rPr lang="en-US" sz="2400" b="1" dirty="0">
                <a:solidFill>
                  <a:srgbClr val="00206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blue path</a:t>
            </a:r>
            <a:r>
              <a:rPr lang="en-US" sz="2400" dirty="0">
                <a:solidFill>
                  <a:srgbClr val="20212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). They then judged the universalized counterfactual.</a:t>
            </a:r>
          </a:p>
        </p:txBody>
      </p:sp>
      <p:pic>
        <p:nvPicPr>
          <p:cNvPr id="74" name="Picture 73" descr="File:Nyu short color.svg - Wikipedia">
            <a:extLst>
              <a:ext uri="{FF2B5EF4-FFF2-40B4-BE49-F238E27FC236}">
                <a16:creationId xmlns:a16="http://schemas.microsoft.com/office/drawing/2014/main" id="{D52B5322-F487-2656-F446-C82D2D9E8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90170" y="808740"/>
            <a:ext cx="3170643" cy="1080000"/>
          </a:xfrm>
          <a:prstGeom prst="rect">
            <a:avLst/>
          </a:prstGeom>
        </p:spPr>
      </p:pic>
      <p:pic>
        <p:nvPicPr>
          <p:cNvPr id="76" name="Picture 75" descr="File:Logo École normale supérieure - PSL (ENS-PSL).svg - Wikimedia Commons">
            <a:extLst>
              <a:ext uri="{FF2B5EF4-FFF2-40B4-BE49-F238E27FC236}">
                <a16:creationId xmlns:a16="http://schemas.microsoft.com/office/drawing/2014/main" id="{204DB4E9-05E6-F626-300E-A8536B67C2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72218" y="718740"/>
            <a:ext cx="2992208" cy="1260000"/>
          </a:xfrm>
          <a:prstGeom prst="rect">
            <a:avLst/>
          </a:prstGeom>
        </p:spPr>
      </p:pic>
      <p:pic>
        <p:nvPicPr>
          <p:cNvPr id="77" name="Picture 76" descr="File:MIT logo 2003-2023.svg - Wikimedia Commons">
            <a:extLst>
              <a:ext uri="{FF2B5EF4-FFF2-40B4-BE49-F238E27FC236}">
                <a16:creationId xmlns:a16="http://schemas.microsoft.com/office/drawing/2014/main" id="{3C7B46EC-06C6-F091-B2B9-1692C326A0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61411" y="808740"/>
            <a:ext cx="2088218" cy="1080000"/>
          </a:xfrm>
          <a:prstGeom prst="rect">
            <a:avLst/>
          </a:prstGeom>
        </p:spPr>
      </p:pic>
      <p:grpSp>
        <p:nvGrpSpPr>
          <p:cNvPr id="188" name="Group 187">
            <a:extLst>
              <a:ext uri="{FF2B5EF4-FFF2-40B4-BE49-F238E27FC236}">
                <a16:creationId xmlns:a16="http://schemas.microsoft.com/office/drawing/2014/main" id="{400D6008-42A1-466C-4E26-DF8E98054800}"/>
              </a:ext>
            </a:extLst>
          </p:cNvPr>
          <p:cNvGrpSpPr>
            <a:grpSpLocks noChangeAspect="1"/>
          </p:cNvGrpSpPr>
          <p:nvPr/>
        </p:nvGrpSpPr>
        <p:grpSpPr>
          <a:xfrm>
            <a:off x="1097280" y="14493240"/>
            <a:ext cx="4306804" cy="4297680"/>
            <a:chOff x="1763459" y="13449771"/>
            <a:chExt cx="4914900" cy="4902200"/>
          </a:xfrm>
        </p:grpSpPr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33944107-0784-641C-8288-3C0C23556FC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763459" y="13449771"/>
              <a:ext cx="4914900" cy="4902200"/>
            </a:xfrm>
            <a:prstGeom prst="rect">
              <a:avLst/>
            </a:prstGeom>
          </p:spPr>
        </p:pic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51D1B0E9-EB65-749A-19B1-7EFA537DCE6B}"/>
                </a:ext>
              </a:extLst>
            </p:cNvPr>
            <p:cNvCxnSpPr>
              <a:cxnSpLocks/>
            </p:cNvCxnSpPr>
            <p:nvPr/>
          </p:nvCxnSpPr>
          <p:spPr>
            <a:xfrm>
              <a:off x="2992565" y="17054230"/>
              <a:ext cx="2503219" cy="0"/>
            </a:xfrm>
            <a:prstGeom prst="straightConnector1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AE262E51-98E9-4B4D-EB0C-85797FD9E6B9}"/>
                </a:ext>
              </a:extLst>
            </p:cNvPr>
            <p:cNvCxnSpPr>
              <a:cxnSpLocks/>
            </p:cNvCxnSpPr>
            <p:nvPr/>
          </p:nvCxnSpPr>
          <p:spPr>
            <a:xfrm>
              <a:off x="3980117" y="16484321"/>
              <a:ext cx="1305915" cy="0"/>
            </a:xfrm>
            <a:prstGeom prst="straightConnector1">
              <a:avLst/>
            </a:prstGeom>
            <a:ln w="38100">
              <a:solidFill>
                <a:srgbClr val="002060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F04B1B4B-7D35-F4ED-8F86-6B6C7ADCC26E}"/>
                </a:ext>
              </a:extLst>
            </p:cNvPr>
            <p:cNvCxnSpPr>
              <a:cxnSpLocks/>
            </p:cNvCxnSpPr>
            <p:nvPr/>
          </p:nvCxnSpPr>
          <p:spPr>
            <a:xfrm>
              <a:off x="5587908" y="16484321"/>
              <a:ext cx="0" cy="351152"/>
            </a:xfrm>
            <a:prstGeom prst="straightConnector1">
              <a:avLst/>
            </a:prstGeom>
            <a:ln w="38100">
              <a:solidFill>
                <a:srgbClr val="002060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9F222AE2-BB17-923D-D13C-9CE6D9740AC0}"/>
                </a:ext>
              </a:extLst>
            </p:cNvPr>
            <p:cNvCxnSpPr>
              <a:cxnSpLocks/>
            </p:cNvCxnSpPr>
            <p:nvPr/>
          </p:nvCxnSpPr>
          <p:spPr>
            <a:xfrm>
              <a:off x="3334563" y="15608021"/>
              <a:ext cx="1475877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9767D01C-1B88-CD93-91E1-B9BC8BC8F462}"/>
                </a:ext>
              </a:extLst>
            </p:cNvPr>
            <p:cNvSpPr/>
            <p:nvPr/>
          </p:nvSpPr>
          <p:spPr>
            <a:xfrm>
              <a:off x="3147952" y="16563751"/>
              <a:ext cx="360782" cy="411630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Arc 101">
              <a:extLst>
                <a:ext uri="{FF2B5EF4-FFF2-40B4-BE49-F238E27FC236}">
                  <a16:creationId xmlns:a16="http://schemas.microsoft.com/office/drawing/2014/main" id="{C3476E03-EA9F-E871-28D8-AFED49B74127}"/>
                </a:ext>
              </a:extLst>
            </p:cNvPr>
            <p:cNvSpPr/>
            <p:nvPr/>
          </p:nvSpPr>
          <p:spPr>
            <a:xfrm rot="10800000" flipV="1">
              <a:off x="3328343" y="15725534"/>
              <a:ext cx="2639789" cy="1542596"/>
            </a:xfrm>
            <a:prstGeom prst="arc">
              <a:avLst>
                <a:gd name="adj1" fmla="val 16224690"/>
                <a:gd name="adj2" fmla="val 0"/>
              </a:avLst>
            </a:prstGeom>
            <a:ln w="38100">
              <a:solidFill>
                <a:srgbClr val="C00000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5" name="Text 17">
            <a:extLst>
              <a:ext uri="{FF2B5EF4-FFF2-40B4-BE49-F238E27FC236}">
                <a16:creationId xmlns:a16="http://schemas.microsoft.com/office/drawing/2014/main" id="{D3DF0DC8-B433-569B-4D9A-919BFEDED8A0}"/>
              </a:ext>
            </a:extLst>
          </p:cNvPr>
          <p:cNvSpPr/>
          <p:nvPr/>
        </p:nvSpPr>
        <p:spPr>
          <a:xfrm>
            <a:off x="15644813" y="6995126"/>
            <a:ext cx="1371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Model: simulating the universalized world </a:t>
            </a:r>
            <a:endParaRPr lang="en-US" sz="3400" dirty="0">
              <a:solidFill>
                <a:srgbClr val="000000"/>
              </a:solidFill>
            </a:endParaRPr>
          </a:p>
        </p:txBody>
      </p:sp>
      <p:sp>
        <p:nvSpPr>
          <p:cNvPr id="126" name="Shape 18">
            <a:extLst>
              <a:ext uri="{FF2B5EF4-FFF2-40B4-BE49-F238E27FC236}">
                <a16:creationId xmlns:a16="http://schemas.microsoft.com/office/drawing/2014/main" id="{5657C570-E1DF-C3AD-D3AE-3EB68BBD5479}"/>
              </a:ext>
            </a:extLst>
          </p:cNvPr>
          <p:cNvSpPr/>
          <p:nvPr/>
        </p:nvSpPr>
        <p:spPr>
          <a:xfrm>
            <a:off x="15644813" y="7772366"/>
            <a:ext cx="13716000" cy="0"/>
          </a:xfrm>
          <a:prstGeom prst="line">
            <a:avLst/>
          </a:prstGeom>
          <a:noFill/>
          <a:ln w="25400">
            <a:solidFill>
              <a:srgbClr val="D8D4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7" name="Rounded Rectangle 156">
            <a:extLst>
              <a:ext uri="{FF2B5EF4-FFF2-40B4-BE49-F238E27FC236}">
                <a16:creationId xmlns:a16="http://schemas.microsoft.com/office/drawing/2014/main" id="{008CFD22-54CB-99EC-1C1E-67DBD09EA01E}"/>
              </a:ext>
            </a:extLst>
          </p:cNvPr>
          <p:cNvSpPr/>
          <p:nvPr/>
        </p:nvSpPr>
        <p:spPr>
          <a:xfrm>
            <a:off x="7205958" y="14493240"/>
            <a:ext cx="7498079" cy="4297680"/>
          </a:xfrm>
          <a:prstGeom prst="roundRect">
            <a:avLst/>
          </a:prstGeom>
          <a:solidFill>
            <a:srgbClr val="E8F0EF"/>
          </a:solidFill>
          <a:ln>
            <a:solidFill>
              <a:srgbClr val="D8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8FF38A62-618E-6FB8-47D6-C62E23BCDBE3}"/>
              </a:ext>
            </a:extLst>
          </p:cNvPr>
          <p:cNvSpPr txBox="1"/>
          <p:nvPr/>
        </p:nvSpPr>
        <p:spPr>
          <a:xfrm>
            <a:off x="7461990" y="15068565"/>
            <a:ext cx="6986015" cy="347472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600" b="1" i="0" dirty="0">
                <a:solidFill>
                  <a:srgbClr val="315E63"/>
                </a:solidFill>
                <a:latin typeface="Avenir Next"/>
              </a:rPr>
              <a:t>Universalizability judgment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B2F6ACC3-23FF-695B-9BB1-93AC5451471C}"/>
              </a:ext>
            </a:extLst>
          </p:cNvPr>
          <p:cNvSpPr txBox="1"/>
          <p:nvPr/>
        </p:nvSpPr>
        <p:spPr>
          <a:xfrm>
            <a:off x="7480278" y="15498333"/>
            <a:ext cx="6949440" cy="1417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2100" b="1" i="0" dirty="0">
                <a:solidFill>
                  <a:srgbClr val="202124"/>
                </a:solidFill>
                <a:latin typeface="Avenir Next"/>
              </a:rPr>
              <a:t>“</a:t>
            </a:r>
            <a:r>
              <a:rPr lang="en-US" sz="2100" b="1" dirty="0">
                <a:solidFill>
                  <a:srgbClr val="202124"/>
                </a:solidFill>
                <a:latin typeface="Avenir Next"/>
              </a:rPr>
              <a:t>What if</a:t>
            </a:r>
            <a:r>
              <a:rPr sz="2100" b="1" i="0" dirty="0">
                <a:solidFill>
                  <a:srgbClr val="202124"/>
                </a:solidFill>
                <a:latin typeface="Avenir Next"/>
              </a:rPr>
              <a:t> everyone felt at liberty to leave the line and try to get water faster</a:t>
            </a:r>
            <a:r>
              <a:rPr lang="en-US" sz="2100" b="1" i="0" dirty="0">
                <a:solidFill>
                  <a:srgbClr val="202124"/>
                </a:solidFill>
                <a:latin typeface="Avenir Next"/>
              </a:rPr>
              <a:t> for themselves?</a:t>
            </a:r>
            <a:r>
              <a:rPr sz="2100" b="1" i="0" dirty="0">
                <a:solidFill>
                  <a:srgbClr val="202124"/>
                </a:solidFill>
                <a:latin typeface="Avenir Next"/>
              </a:rPr>
              <a:t> </a:t>
            </a:r>
            <a:r>
              <a:rPr lang="en-US" sz="2100" b="1" dirty="0">
                <a:solidFill>
                  <a:srgbClr val="202124"/>
                </a:solidFill>
                <a:latin typeface="Avenir Next"/>
              </a:rPr>
              <a:t>H</a:t>
            </a:r>
            <a:r>
              <a:rPr sz="2100" b="1" i="0" dirty="0">
                <a:solidFill>
                  <a:srgbClr val="202124"/>
                </a:solidFill>
                <a:latin typeface="Avenir Next"/>
              </a:rPr>
              <a:t>ow much better or worse off would everyone be</a:t>
            </a:r>
            <a:r>
              <a:rPr lang="en-US" sz="2100" b="1" dirty="0">
                <a:solidFill>
                  <a:srgbClr val="202124"/>
                </a:solidFill>
                <a:latin typeface="Avenir Next"/>
              </a:rPr>
              <a:t> compared to if they all stayed in line instead?”</a:t>
            </a:r>
            <a:endParaRPr sz="2100" b="1" i="0" dirty="0">
              <a:solidFill>
                <a:srgbClr val="202124"/>
              </a:solidFill>
              <a:latin typeface="Avenir Next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FA8A9B7C-B41F-776A-A039-99446119697E}"/>
              </a:ext>
            </a:extLst>
          </p:cNvPr>
          <p:cNvSpPr txBox="1"/>
          <p:nvPr/>
        </p:nvSpPr>
        <p:spPr>
          <a:xfrm>
            <a:off x="7533016" y="17279620"/>
            <a:ext cx="2147299" cy="277128"/>
          </a:xfrm>
          <a:prstGeom prst="rect">
            <a:avLst/>
          </a:prstGeom>
          <a:noFill/>
        </p:spPr>
        <p:txBody>
          <a:bodyPr wrap="square" lIns="45720" rIns="45720" anchor="b">
            <a:noAutofit/>
          </a:bodyPr>
          <a:lstStyle/>
          <a:p>
            <a:pPr algn="ctr"/>
            <a:r>
              <a:rPr sz="1550" b="0" i="0" dirty="0">
                <a:solidFill>
                  <a:srgbClr val="5F6368"/>
                </a:solidFill>
                <a:latin typeface="Avenir Next"/>
              </a:rPr>
              <a:t>Much worse </a:t>
            </a:r>
            <a:r>
              <a:rPr lang="en-US" sz="1550" b="0" i="0" dirty="0">
                <a:solidFill>
                  <a:srgbClr val="5F6368"/>
                </a:solidFill>
                <a:latin typeface="Avenir Next"/>
              </a:rPr>
              <a:t>off</a:t>
            </a:r>
            <a:endParaRPr sz="1550" b="0" i="0" dirty="0">
              <a:solidFill>
                <a:srgbClr val="5F6368"/>
              </a:solidFill>
              <a:latin typeface="Avenir Next"/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11A15948-1A78-D70E-A748-3129DEF961A9}"/>
              </a:ext>
            </a:extLst>
          </p:cNvPr>
          <p:cNvSpPr/>
          <p:nvPr/>
        </p:nvSpPr>
        <p:spPr>
          <a:xfrm>
            <a:off x="8623278" y="17634473"/>
            <a:ext cx="4663440" cy="27432"/>
          </a:xfrm>
          <a:prstGeom prst="rect">
            <a:avLst/>
          </a:prstGeom>
          <a:solidFill>
            <a:srgbClr val="5F6368"/>
          </a:solidFill>
          <a:ln>
            <a:solidFill>
              <a:srgbClr val="5F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8F9FC36A-65EA-E4F3-8C78-E53BE5F7DD78}"/>
              </a:ext>
            </a:extLst>
          </p:cNvPr>
          <p:cNvSpPr/>
          <p:nvPr/>
        </p:nvSpPr>
        <p:spPr>
          <a:xfrm>
            <a:off x="8550126" y="17571013"/>
            <a:ext cx="146304" cy="146304"/>
          </a:xfrm>
          <a:prstGeom prst="ellipse">
            <a:avLst/>
          </a:prstGeom>
          <a:solidFill>
            <a:srgbClr val="FFFFFF"/>
          </a:solidFill>
          <a:ln>
            <a:solidFill>
              <a:srgbClr val="5F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CF2B1026-11B7-79D8-EBF3-9B8B5609A22C}"/>
              </a:ext>
            </a:extLst>
          </p:cNvPr>
          <p:cNvSpPr/>
          <p:nvPr/>
        </p:nvSpPr>
        <p:spPr>
          <a:xfrm>
            <a:off x="10881846" y="17571013"/>
            <a:ext cx="146304" cy="146304"/>
          </a:xfrm>
          <a:prstGeom prst="ellipse">
            <a:avLst/>
          </a:prstGeom>
          <a:solidFill>
            <a:srgbClr val="FFFFFF"/>
          </a:solidFill>
          <a:ln>
            <a:solidFill>
              <a:srgbClr val="5F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2117847F-649E-A226-FFEF-CA780D584E70}"/>
              </a:ext>
            </a:extLst>
          </p:cNvPr>
          <p:cNvSpPr/>
          <p:nvPr/>
        </p:nvSpPr>
        <p:spPr>
          <a:xfrm>
            <a:off x="13213565" y="17571013"/>
            <a:ext cx="146304" cy="146304"/>
          </a:xfrm>
          <a:prstGeom prst="ellipse">
            <a:avLst/>
          </a:prstGeom>
          <a:solidFill>
            <a:srgbClr val="FFFFFF"/>
          </a:solidFill>
          <a:ln>
            <a:solidFill>
              <a:srgbClr val="5F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2C60BB62-432A-425F-42AF-2D98C49713FB}"/>
              </a:ext>
            </a:extLst>
          </p:cNvPr>
          <p:cNvSpPr txBox="1"/>
          <p:nvPr/>
        </p:nvSpPr>
        <p:spPr>
          <a:xfrm>
            <a:off x="8302972" y="17720736"/>
            <a:ext cx="634952" cy="310896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/>
            <a:r>
              <a:rPr lang="en-US" sz="1550" b="0" i="0" dirty="0">
                <a:solidFill>
                  <a:srgbClr val="5F6368"/>
                </a:solidFill>
                <a:latin typeface="Avenir Next"/>
              </a:rPr>
              <a:t>−50</a:t>
            </a:r>
            <a:endParaRPr sz="1550" b="0" i="0" dirty="0">
              <a:solidFill>
                <a:srgbClr val="5F6368"/>
              </a:solidFill>
              <a:latin typeface="Avenir Next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C1E57D10-6DF0-71F3-7F20-15EBD5371382}"/>
              </a:ext>
            </a:extLst>
          </p:cNvPr>
          <p:cNvSpPr txBox="1"/>
          <p:nvPr/>
        </p:nvSpPr>
        <p:spPr>
          <a:xfrm>
            <a:off x="12385039" y="17272845"/>
            <a:ext cx="1800862" cy="277128"/>
          </a:xfrm>
          <a:prstGeom prst="rect">
            <a:avLst/>
          </a:prstGeom>
          <a:noFill/>
        </p:spPr>
        <p:txBody>
          <a:bodyPr wrap="square" lIns="45720" rIns="45720" anchor="b">
            <a:noAutofit/>
          </a:bodyPr>
          <a:lstStyle/>
          <a:p>
            <a:pPr algn="ctr"/>
            <a:r>
              <a:rPr sz="1550" b="0" i="0" dirty="0">
                <a:solidFill>
                  <a:srgbClr val="5F6368"/>
                </a:solidFill>
                <a:latin typeface="Avenir Next"/>
              </a:rPr>
              <a:t>Much </a:t>
            </a:r>
            <a:r>
              <a:rPr lang="en-US" sz="1550" dirty="0">
                <a:solidFill>
                  <a:srgbClr val="5F6368"/>
                </a:solidFill>
                <a:latin typeface="Avenir Next"/>
              </a:rPr>
              <a:t>better</a:t>
            </a:r>
            <a:r>
              <a:rPr sz="1550" b="0" i="0" dirty="0">
                <a:solidFill>
                  <a:srgbClr val="5F6368"/>
                </a:solidFill>
                <a:latin typeface="Avenir Next"/>
              </a:rPr>
              <a:t> </a:t>
            </a:r>
            <a:r>
              <a:rPr lang="en-US" sz="1550" b="0" i="0" dirty="0">
                <a:solidFill>
                  <a:srgbClr val="5F6368"/>
                </a:solidFill>
                <a:latin typeface="Avenir Next"/>
              </a:rPr>
              <a:t>off</a:t>
            </a:r>
            <a:endParaRPr sz="1550" b="0" i="0" dirty="0">
              <a:solidFill>
                <a:srgbClr val="5F6368"/>
              </a:solidFill>
              <a:latin typeface="Avenir Next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A11675FF-0B1A-1FD5-0879-D9C21C7D39F8}"/>
              </a:ext>
            </a:extLst>
          </p:cNvPr>
          <p:cNvSpPr txBox="1"/>
          <p:nvPr/>
        </p:nvSpPr>
        <p:spPr>
          <a:xfrm>
            <a:off x="10637471" y="17717317"/>
            <a:ext cx="634952" cy="310896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/>
            <a:r>
              <a:rPr lang="en-US" sz="1550" b="0" i="0" dirty="0">
                <a:solidFill>
                  <a:srgbClr val="5F6368"/>
                </a:solidFill>
                <a:latin typeface="Avenir Next"/>
              </a:rPr>
              <a:t>0</a:t>
            </a:r>
            <a:endParaRPr sz="1550" b="0" i="0" dirty="0">
              <a:solidFill>
                <a:srgbClr val="5F6368"/>
              </a:solidFill>
              <a:latin typeface="Avenir Next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050E6A70-A0B4-C8D0-AE63-84D3F9106178}"/>
              </a:ext>
            </a:extLst>
          </p:cNvPr>
          <p:cNvSpPr txBox="1"/>
          <p:nvPr/>
        </p:nvSpPr>
        <p:spPr>
          <a:xfrm>
            <a:off x="12976028" y="17723189"/>
            <a:ext cx="634952" cy="310896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/>
            <a:r>
              <a:rPr lang="en-US" sz="1550" b="0" i="0" dirty="0">
                <a:solidFill>
                  <a:srgbClr val="5F6368"/>
                </a:solidFill>
                <a:latin typeface="Avenir Next"/>
              </a:rPr>
              <a:t>+50</a:t>
            </a:r>
            <a:endParaRPr sz="1550" b="0" i="0" dirty="0">
              <a:solidFill>
                <a:srgbClr val="5F6368"/>
              </a:solidFill>
              <a:latin typeface="Avenir Next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689A6133-D6C3-8674-49A5-9F4E284E0EB3}"/>
              </a:ext>
            </a:extLst>
          </p:cNvPr>
          <p:cNvSpPr txBox="1"/>
          <p:nvPr/>
        </p:nvSpPr>
        <p:spPr>
          <a:xfrm>
            <a:off x="7177134" y="18955512"/>
            <a:ext cx="7555903" cy="310896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/>
            <a:r>
              <a:rPr lang="en-US" sz="1550" i="1" dirty="0">
                <a:solidFill>
                  <a:srgbClr val="202124"/>
                </a:solidFill>
                <a:latin typeface="Avenir Next"/>
              </a:rPr>
              <a:t>50 </a:t>
            </a:r>
            <a:r>
              <a:rPr sz="1550" i="1" dirty="0">
                <a:solidFill>
                  <a:srgbClr val="202124"/>
                </a:solidFill>
                <a:latin typeface="Avenir Next"/>
              </a:rPr>
              <a:t>participants</a:t>
            </a:r>
            <a:r>
              <a:rPr lang="en-US" sz="1550" i="1" dirty="0">
                <a:solidFill>
                  <a:srgbClr val="202124"/>
                </a:solidFill>
                <a:latin typeface="Avenir Next"/>
              </a:rPr>
              <a:t> (7 excluded)</a:t>
            </a:r>
            <a:r>
              <a:rPr sz="1550" i="1" dirty="0">
                <a:solidFill>
                  <a:srgbClr val="202124"/>
                </a:solidFill>
                <a:latin typeface="Avenir Next"/>
              </a:rPr>
              <a:t> · 39 scenarios · </a:t>
            </a:r>
            <a:r>
              <a:rPr lang="en-US" sz="1550" i="1" dirty="0">
                <a:solidFill>
                  <a:srgbClr val="202124"/>
                </a:solidFill>
                <a:latin typeface="Avenir Next"/>
              </a:rPr>
              <a:t>data from </a:t>
            </a:r>
            <a:r>
              <a:rPr sz="1550" i="1" dirty="0">
                <a:solidFill>
                  <a:srgbClr val="202124"/>
                </a:solidFill>
                <a:latin typeface="Avenir Next"/>
              </a:rPr>
              <a:t>Kwon et al. (2023)</a:t>
            </a:r>
          </a:p>
        </p:txBody>
      </p:sp>
      <p:sp>
        <p:nvSpPr>
          <p:cNvPr id="175" name="Text 19">
            <a:extLst>
              <a:ext uri="{FF2B5EF4-FFF2-40B4-BE49-F238E27FC236}">
                <a16:creationId xmlns:a16="http://schemas.microsoft.com/office/drawing/2014/main" id="{81643836-4ACE-E12E-94BA-4A08187D3E79}"/>
              </a:ext>
            </a:extLst>
          </p:cNvPr>
          <p:cNvSpPr/>
          <p:nvPr/>
        </p:nvSpPr>
        <p:spPr>
          <a:xfrm>
            <a:off x="15744393" y="8092440"/>
            <a:ext cx="13716000" cy="1151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dirty="0">
                <a:latin typeface="Avenir Next" panose="020B0503020202020204" pitchFamily="34" charset="0"/>
              </a:rPr>
              <a:t>We simulate all eight agents leaving the line and pursuing water for themselves, using A* planning.  Models vary in how far agents predict ahead and what reasoning they attribute to others.  </a:t>
            </a:r>
          </a:p>
        </p:txBody>
      </p: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65453C6A-F51D-4C2D-AE1C-7B643A7AB96E}"/>
              </a:ext>
            </a:extLst>
          </p:cNvPr>
          <p:cNvGrpSpPr/>
          <p:nvPr/>
        </p:nvGrpSpPr>
        <p:grpSpPr>
          <a:xfrm>
            <a:off x="15819120" y="14493240"/>
            <a:ext cx="4789583" cy="4297680"/>
            <a:chOff x="15997952" y="8665271"/>
            <a:chExt cx="5070920" cy="4551357"/>
          </a:xfrm>
        </p:grpSpPr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id="{2F0AF95B-0072-CC9E-8717-76586D5D2A4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5997952" y="8665271"/>
              <a:ext cx="5070920" cy="4551357"/>
              <a:chOff x="26553079" y="15828936"/>
              <a:chExt cx="4914900" cy="5160906"/>
            </a:xfrm>
          </p:grpSpPr>
          <p:pic>
            <p:nvPicPr>
              <p:cNvPr id="103" name="Picture 102">
                <a:extLst>
                  <a:ext uri="{FF2B5EF4-FFF2-40B4-BE49-F238E27FC236}">
                    <a16:creationId xmlns:a16="http://schemas.microsoft.com/office/drawing/2014/main" id="{15936C8F-A412-2723-56B1-C34B0C36B8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553079" y="15828936"/>
                <a:ext cx="4914900" cy="4902200"/>
              </a:xfrm>
              <a:prstGeom prst="rect">
                <a:avLst/>
              </a:prstGeom>
            </p:spPr>
          </p:pic>
          <p:cxnSp>
            <p:nvCxnSpPr>
              <p:cNvPr id="111" name="Straight Arrow Connector 110">
                <a:extLst>
                  <a:ext uri="{FF2B5EF4-FFF2-40B4-BE49-F238E27FC236}">
                    <a16:creationId xmlns:a16="http://schemas.microsoft.com/office/drawing/2014/main" id="{C01AD94B-5ED7-1F2C-E25E-66E3A55651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229945" y="19184595"/>
                <a:ext cx="412569" cy="0"/>
              </a:xfrm>
              <a:prstGeom prst="straightConnector1">
                <a:avLst/>
              </a:prstGeom>
              <a:ln w="12700">
                <a:solidFill>
                  <a:srgbClr val="E4575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" name="Arc 114">
                <a:extLst>
                  <a:ext uri="{FF2B5EF4-FFF2-40B4-BE49-F238E27FC236}">
                    <a16:creationId xmlns:a16="http://schemas.microsoft.com/office/drawing/2014/main" id="{C845544A-EBD4-816C-3312-8BCFD268B9F3}"/>
                  </a:ext>
                </a:extLst>
              </p:cNvPr>
              <p:cNvSpPr/>
              <p:nvPr/>
            </p:nvSpPr>
            <p:spPr>
              <a:xfrm rot="16200000">
                <a:off x="29832782" y="18823767"/>
                <a:ext cx="794267" cy="721294"/>
              </a:xfrm>
              <a:prstGeom prst="arc">
                <a:avLst>
                  <a:gd name="adj1" fmla="val 16200000"/>
                  <a:gd name="adj2" fmla="val 114112"/>
                </a:avLst>
              </a:prstGeom>
              <a:ln w="12700">
                <a:solidFill>
                  <a:srgbClr val="F28E2B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6" name="Arc 115">
                <a:extLst>
                  <a:ext uri="{FF2B5EF4-FFF2-40B4-BE49-F238E27FC236}">
                    <a16:creationId xmlns:a16="http://schemas.microsoft.com/office/drawing/2014/main" id="{D78C0D68-D4AB-1763-7D95-B41C639EBD22}"/>
                  </a:ext>
                </a:extLst>
              </p:cNvPr>
              <p:cNvSpPr/>
              <p:nvPr/>
            </p:nvSpPr>
            <p:spPr>
              <a:xfrm rot="16200000">
                <a:off x="29157060" y="18821043"/>
                <a:ext cx="1476372" cy="721294"/>
              </a:xfrm>
              <a:prstGeom prst="arc">
                <a:avLst>
                  <a:gd name="adj1" fmla="val 16200000"/>
                  <a:gd name="adj2" fmla="val 114112"/>
                </a:avLst>
              </a:prstGeom>
              <a:ln w="12700">
                <a:solidFill>
                  <a:srgbClr val="EDC948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0" name="Arc 119">
                <a:extLst>
                  <a:ext uri="{FF2B5EF4-FFF2-40B4-BE49-F238E27FC236}">
                    <a16:creationId xmlns:a16="http://schemas.microsoft.com/office/drawing/2014/main" id="{5001C7C1-5496-F516-971F-8A20DD6E2BEE}"/>
                  </a:ext>
                </a:extLst>
              </p:cNvPr>
              <p:cNvSpPr/>
              <p:nvPr/>
            </p:nvSpPr>
            <p:spPr>
              <a:xfrm rot="16200000">
                <a:off x="28437715" y="18808417"/>
                <a:ext cx="2193768" cy="721294"/>
              </a:xfrm>
              <a:prstGeom prst="arc">
                <a:avLst>
                  <a:gd name="adj1" fmla="val 16200000"/>
                  <a:gd name="adj2" fmla="val 114112"/>
                </a:avLst>
              </a:prstGeom>
              <a:ln w="12700">
                <a:solidFill>
                  <a:srgbClr val="59A14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1" name="Arc 120">
                <a:extLst>
                  <a:ext uri="{FF2B5EF4-FFF2-40B4-BE49-F238E27FC236}">
                    <a16:creationId xmlns:a16="http://schemas.microsoft.com/office/drawing/2014/main" id="{2A0C21AC-6E5C-B6D3-6FBE-F3D599A0D048}"/>
                  </a:ext>
                </a:extLst>
              </p:cNvPr>
              <p:cNvSpPr/>
              <p:nvPr/>
            </p:nvSpPr>
            <p:spPr>
              <a:xfrm rot="16200000">
                <a:off x="27753421" y="18821046"/>
                <a:ext cx="2867013" cy="721294"/>
              </a:xfrm>
              <a:prstGeom prst="arc">
                <a:avLst>
                  <a:gd name="adj1" fmla="val 16200000"/>
                  <a:gd name="adj2" fmla="val 114112"/>
                </a:avLst>
              </a:prstGeom>
              <a:ln w="12700">
                <a:solidFill>
                  <a:srgbClr val="2A9D8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2" name="Arc 121">
                <a:extLst>
                  <a:ext uri="{FF2B5EF4-FFF2-40B4-BE49-F238E27FC236}">
                    <a16:creationId xmlns:a16="http://schemas.microsoft.com/office/drawing/2014/main" id="{376B0B56-64A2-E8D7-7B92-0897A2C2621B}"/>
                  </a:ext>
                </a:extLst>
              </p:cNvPr>
              <p:cNvSpPr/>
              <p:nvPr/>
            </p:nvSpPr>
            <p:spPr>
              <a:xfrm rot="16200000">
                <a:off x="26982708" y="18512158"/>
                <a:ext cx="3622043" cy="1333326"/>
              </a:xfrm>
              <a:prstGeom prst="arc">
                <a:avLst>
                  <a:gd name="adj1" fmla="val 16200000"/>
                  <a:gd name="adj2" fmla="val 114112"/>
                </a:avLst>
              </a:prstGeom>
              <a:ln w="12700">
                <a:solidFill>
                  <a:srgbClr val="8F63B8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4" name="Arc 123">
                <a:extLst>
                  <a:ext uri="{FF2B5EF4-FFF2-40B4-BE49-F238E27FC236}">
                    <a16:creationId xmlns:a16="http://schemas.microsoft.com/office/drawing/2014/main" id="{1CD65A98-2DAF-684C-B2CC-7C7F75F5F5D7}"/>
                  </a:ext>
                </a:extLst>
              </p:cNvPr>
              <p:cNvSpPr/>
              <p:nvPr/>
            </p:nvSpPr>
            <p:spPr>
              <a:xfrm rot="10800000">
                <a:off x="28474245" y="18827676"/>
                <a:ext cx="2838194" cy="708914"/>
              </a:xfrm>
              <a:prstGeom prst="arc">
                <a:avLst>
                  <a:gd name="adj1" fmla="val 16199996"/>
                  <a:gd name="adj2" fmla="val 21591227"/>
                </a:avLst>
              </a:prstGeom>
              <a:ln w="12700">
                <a:solidFill>
                  <a:srgbClr val="4E79A7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90" name="Arc 189">
              <a:extLst>
                <a:ext uri="{FF2B5EF4-FFF2-40B4-BE49-F238E27FC236}">
                  <a16:creationId xmlns:a16="http://schemas.microsoft.com/office/drawing/2014/main" id="{330CC19D-7387-2B18-6659-18636185AD79}"/>
                </a:ext>
              </a:extLst>
            </p:cNvPr>
            <p:cNvSpPr/>
            <p:nvPr/>
          </p:nvSpPr>
          <p:spPr>
            <a:xfrm rot="10800000">
              <a:off x="17249400" y="11013900"/>
              <a:ext cx="3038636" cy="1196305"/>
            </a:xfrm>
            <a:prstGeom prst="arc">
              <a:avLst>
                <a:gd name="adj1" fmla="val 16170685"/>
                <a:gd name="adj2" fmla="val 21591227"/>
              </a:avLst>
            </a:prstGeom>
            <a:ln w="12700">
              <a:solidFill>
                <a:srgbClr val="D45087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2" name="Rounded Rectangle 191">
            <a:extLst>
              <a:ext uri="{FF2B5EF4-FFF2-40B4-BE49-F238E27FC236}">
                <a16:creationId xmlns:a16="http://schemas.microsoft.com/office/drawing/2014/main" id="{5980DDF1-E1A2-A6E8-F835-D1DB033FCAD0}"/>
              </a:ext>
            </a:extLst>
          </p:cNvPr>
          <p:cNvSpPr/>
          <p:nvPr/>
        </p:nvSpPr>
        <p:spPr>
          <a:xfrm>
            <a:off x="21579840" y="14493240"/>
            <a:ext cx="7781544" cy="4297680"/>
          </a:xfrm>
          <a:prstGeom prst="roundRect">
            <a:avLst/>
          </a:prstGeom>
          <a:solidFill>
            <a:srgbClr val="E8F0EF"/>
          </a:solidFill>
          <a:ln>
            <a:solidFill>
              <a:srgbClr val="D8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1043543B-D93E-F6B6-4B23-16FB3B44770B}"/>
              </a:ext>
            </a:extLst>
          </p:cNvPr>
          <p:cNvSpPr txBox="1"/>
          <p:nvPr/>
        </p:nvSpPr>
        <p:spPr>
          <a:xfrm>
            <a:off x="21854160" y="14767559"/>
            <a:ext cx="6986015" cy="347472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600" b="1" i="0" dirty="0">
                <a:solidFill>
                  <a:srgbClr val="315E63"/>
                </a:solidFill>
                <a:latin typeface="Avenir Next"/>
              </a:rPr>
              <a:t>Universalizability </a:t>
            </a:r>
            <a:r>
              <a:rPr lang="en-US" sz="1600" b="1" dirty="0">
                <a:solidFill>
                  <a:srgbClr val="315E63"/>
                </a:solidFill>
                <a:latin typeface="Avenir Next"/>
              </a:rPr>
              <a:t>score</a:t>
            </a:r>
            <a:endParaRPr sz="1600" b="1" i="0" dirty="0">
              <a:solidFill>
                <a:srgbClr val="315E63"/>
              </a:solidFill>
              <a:latin typeface="Avenir Next"/>
            </a:endParaRP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88482BFB-A90E-5558-BB74-9A18C6449D66}"/>
              </a:ext>
            </a:extLst>
          </p:cNvPr>
          <p:cNvSpPr txBox="1"/>
          <p:nvPr/>
        </p:nvSpPr>
        <p:spPr>
          <a:xfrm>
            <a:off x="21899880" y="16779240"/>
            <a:ext cx="7223760" cy="1186559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/>
            <a:r>
              <a:rPr lang="en-US" sz="2000" b="0" dirty="0">
                <a:solidFill>
                  <a:srgbClr val="5F6368"/>
                </a:solidFill>
                <a:latin typeface="Avenir Next"/>
              </a:rPr>
              <a:t>Time </a:t>
            </a:r>
            <a:r>
              <a:rPr sz="2000" b="0" dirty="0">
                <a:solidFill>
                  <a:srgbClr val="5F6368"/>
                </a:solidFill>
                <a:latin typeface="Avenir Next"/>
              </a:rPr>
              <a:t>saved </a:t>
            </a:r>
            <a:r>
              <a:rPr lang="en-US" sz="2000" b="0" dirty="0">
                <a:solidFill>
                  <a:srgbClr val="5F6368"/>
                </a:solidFill>
                <a:latin typeface="Avenir Next"/>
              </a:rPr>
              <a:t>(</a:t>
            </a:r>
            <a:r>
              <a:rPr sz="2000" b="0" dirty="0">
                <a:solidFill>
                  <a:srgbClr val="5F6368"/>
                </a:solidFill>
                <a:latin typeface="Avenir Next"/>
              </a:rPr>
              <a:t>or lost</a:t>
            </a:r>
            <a:r>
              <a:rPr lang="en-US" sz="2000" b="0" dirty="0">
                <a:solidFill>
                  <a:srgbClr val="5F6368"/>
                </a:solidFill>
                <a:latin typeface="Avenir Next"/>
              </a:rPr>
              <a:t>) by the whole group</a:t>
            </a:r>
            <a:r>
              <a:rPr sz="2000" b="0" dirty="0">
                <a:solidFill>
                  <a:srgbClr val="5F6368"/>
                </a:solidFill>
                <a:latin typeface="Avenir Next"/>
              </a:rPr>
              <a:t> </a:t>
            </a:r>
            <a:r>
              <a:rPr lang="en-US" sz="2000" b="0" dirty="0">
                <a:solidFill>
                  <a:srgbClr val="5F6368"/>
                </a:solidFill>
                <a:latin typeface="Avenir Next"/>
              </a:rPr>
              <a:t>in the universalized simulation (</a:t>
            </a:r>
            <a:r>
              <a:rPr lang="en-US" sz="2000" i="1" dirty="0">
                <a:solidFill>
                  <a:srgbClr val="5F6368"/>
                </a:solidFill>
                <a:latin typeface="Avenir Next"/>
              </a:rPr>
              <a:t>Cᵢ(s)</a:t>
            </a:r>
            <a:r>
              <a:rPr lang="en-US" sz="2000" dirty="0">
                <a:solidFill>
                  <a:srgbClr val="5F6368"/>
                </a:solidFill>
                <a:latin typeface="Avenir Next"/>
              </a:rPr>
              <a:t>) versus the everyone-stays-in-line baseline (</a:t>
            </a:r>
            <a:r>
              <a:rPr lang="en-US" sz="2000" i="1" dirty="0">
                <a:solidFill>
                  <a:srgbClr val="5F6368"/>
                </a:solidFill>
                <a:latin typeface="Avenir Next"/>
              </a:rPr>
              <a:t>Cᵢ(b)</a:t>
            </a:r>
            <a:r>
              <a:rPr lang="en-US" sz="2000" dirty="0">
                <a:solidFill>
                  <a:srgbClr val="5F6368"/>
                </a:solidFill>
                <a:latin typeface="Avenir Next"/>
              </a:rPr>
              <a:t>), normalized by the slowest baseline finisher.</a:t>
            </a:r>
            <a:endParaRPr sz="2000" b="0" dirty="0">
              <a:solidFill>
                <a:srgbClr val="5F6368"/>
              </a:solidFill>
              <a:latin typeface="Avenir Next"/>
            </a:endParaRP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1535DB89-67D2-30CC-1AE8-8978FA4FB99A}"/>
              </a:ext>
            </a:extLst>
          </p:cNvPr>
          <p:cNvSpPr txBox="1"/>
          <p:nvPr/>
        </p:nvSpPr>
        <p:spPr>
          <a:xfrm>
            <a:off x="21899880" y="18194398"/>
            <a:ext cx="7223760" cy="1038239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/>
            <a:r>
              <a:rPr lang="en-US" sz="1220" dirty="0">
                <a:solidFill>
                  <a:srgbClr val="5F6368"/>
                </a:solidFill>
                <a:latin typeface="Avenir Next"/>
              </a:rPr>
              <a:t>S</a:t>
            </a:r>
            <a:r>
              <a:rPr lang="en-US" sz="1220" b="0" i="0" dirty="0">
                <a:solidFill>
                  <a:srgbClr val="5F6368"/>
                </a:solidFill>
                <a:latin typeface="Avenir Next"/>
              </a:rPr>
              <a:t>cores averaged over 10 runs for all 28 maps</a:t>
            </a:r>
            <a:endParaRPr sz="1220" b="0" i="0" dirty="0">
              <a:solidFill>
                <a:srgbClr val="5F6368"/>
              </a:solidFill>
              <a:latin typeface="Avenir Next"/>
            </a:endParaRPr>
          </a:p>
        </p:txBody>
      </p:sp>
      <p:sp>
        <p:nvSpPr>
          <p:cNvPr id="219" name="TextBox 218"/>
          <p:cNvSpPr txBox="1"/>
          <p:nvPr/>
        </p:nvSpPr>
        <p:spPr>
          <a:xfrm>
            <a:off x="18333720" y="9601200"/>
            <a:ext cx="358444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>
                <a:solidFill>
                  <a:srgbClr val="D95F4C"/>
                </a:solidFill>
                <a:latin typeface="Avenir Next"/>
              </a:rPr>
              <a:t>No prediction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18333720" y="10030968"/>
            <a:ext cx="358444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>
                <a:solidFill>
                  <a:srgbClr val="5F6368"/>
                </a:solidFill>
                <a:latin typeface="Avenir Next"/>
              </a:rPr>
              <a:t>others stay at current positions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22018752" y="9601200"/>
            <a:ext cx="358444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>
                <a:solidFill>
                  <a:srgbClr val="2F6DB2"/>
                </a:solidFill>
                <a:latin typeface="Avenir Next"/>
              </a:rPr>
              <a:t>Predict next actions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22018752" y="10030968"/>
            <a:ext cx="358444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>
                <a:solidFill>
                  <a:srgbClr val="5F6368"/>
                </a:solidFill>
                <a:latin typeface="Avenir Next"/>
              </a:rPr>
              <a:t>plan around predicted positions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25703784" y="9601200"/>
            <a:ext cx="358444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>
                <a:solidFill>
                  <a:srgbClr val="7A5AA6"/>
                </a:solidFill>
                <a:latin typeface="Avenir Next"/>
              </a:rPr>
              <a:t>Evaluate by rollout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25703784" y="10030968"/>
            <a:ext cx="358444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>
                <a:solidFill>
                  <a:srgbClr val="5F6368"/>
                </a:solidFill>
                <a:latin typeface="Avenir Next"/>
              </a:rPr>
              <a:t>simulate a round per candidate action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15645384" y="10789920"/>
            <a:ext cx="256032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0" i="0">
                <a:solidFill>
                  <a:srgbClr val="5F6368"/>
                </a:solidFill>
                <a:latin typeface="Avenir Next"/>
              </a:rPr>
              <a:t>others don’t
predict (level 0)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15645384" y="12298680"/>
            <a:ext cx="256032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b="0" i="0">
                <a:solidFill>
                  <a:srgbClr val="5F6368"/>
                </a:solidFill>
                <a:latin typeface="Avenir Next"/>
              </a:rPr>
              <a:t>others predict next
actions (level 1)</a:t>
            </a:r>
          </a:p>
        </p:txBody>
      </p:sp>
      <p:sp>
        <p:nvSpPr>
          <p:cNvPr id="227" name="Rounded Rectangle 226"/>
          <p:cNvSpPr/>
          <p:nvPr/>
        </p:nvSpPr>
        <p:spPr>
          <a:xfrm>
            <a:off x="18333720" y="10789920"/>
            <a:ext cx="3584448" cy="1371600"/>
          </a:xfrm>
          <a:prstGeom prst="roundRect">
            <a:avLst>
              <a:gd name="adj" fmla="val 10000"/>
            </a:avLst>
          </a:prstGeom>
          <a:solidFill>
            <a:srgbClr val="D95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venir Next"/>
              </a:rPr>
              <a:t>L0</a:t>
            </a:r>
          </a:p>
        </p:txBody>
      </p:sp>
      <p:sp>
        <p:nvSpPr>
          <p:cNvPr id="228" name="Rounded Rectangle 227"/>
          <p:cNvSpPr/>
          <p:nvPr/>
        </p:nvSpPr>
        <p:spPr>
          <a:xfrm>
            <a:off x="22018752" y="10789920"/>
            <a:ext cx="3584448" cy="1371600"/>
          </a:xfrm>
          <a:prstGeom prst="roundRect">
            <a:avLst>
              <a:gd name="adj" fmla="val 10000"/>
            </a:avLst>
          </a:prstGeom>
          <a:solidFill>
            <a:srgbClr val="2F6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venir Next"/>
              </a:rPr>
              <a:t>L1 shallow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25703784" y="10789920"/>
            <a:ext cx="3584448" cy="1371600"/>
          </a:xfrm>
          <a:prstGeom prst="roundRect">
            <a:avLst>
              <a:gd name="adj" fmla="val 10000"/>
            </a:avLst>
          </a:prstGeom>
          <a:solidFill>
            <a:srgbClr val="7A5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venir Next"/>
              </a:rPr>
              <a:t>L1 rollout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18333720" y="12298680"/>
            <a:ext cx="3584448" cy="1371600"/>
          </a:xfrm>
          <a:prstGeom prst="roundRect">
            <a:avLst>
              <a:gd name="adj" fmla="val 10000"/>
            </a:avLst>
          </a:prstGeom>
          <a:solidFill>
            <a:srgbClr val="EF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5F6368"/>
                </a:solidFill>
                <a:latin typeface="Avenir Next"/>
              </a:rPr>
              <a:t>—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22018752" y="12298680"/>
            <a:ext cx="3584448" cy="1371600"/>
          </a:xfrm>
          <a:prstGeom prst="roundRect">
            <a:avLst>
              <a:gd name="adj" fmla="val 10000"/>
            </a:avLst>
          </a:prstGeom>
          <a:solidFill>
            <a:srgbClr val="8EA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venir Next"/>
              </a:rPr>
              <a:t>L2 shallow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25703784" y="12298680"/>
            <a:ext cx="3584448" cy="1371600"/>
          </a:xfrm>
          <a:prstGeom prst="roundRect">
            <a:avLst>
              <a:gd name="adj" fmla="val 10000"/>
            </a:avLst>
          </a:prstGeom>
          <a:solidFill>
            <a:srgbClr val="B6A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venir Next"/>
              </a:rPr>
              <a:t>L2 rollout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5645384" y="13834872"/>
            <a:ext cx="136245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1" dirty="0">
                <a:solidFill>
                  <a:srgbClr val="5F6368"/>
                </a:solidFill>
                <a:latin typeface="Avenir Next"/>
              </a:rPr>
              <a:t>Columns vary how the focal agent plans; rows vary the reasoning attributed to others.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95996EC-0068-EDFF-DDB1-9582B29033AA}"/>
              </a:ext>
            </a:extLst>
          </p:cNvPr>
          <p:cNvGrpSpPr/>
          <p:nvPr/>
        </p:nvGrpSpPr>
        <p:grpSpPr>
          <a:xfrm>
            <a:off x="22856274" y="15413325"/>
            <a:ext cx="5493851" cy="1085910"/>
            <a:chOff x="22762058" y="15413325"/>
            <a:chExt cx="5493851" cy="1085910"/>
          </a:xfrm>
        </p:grpSpPr>
        <p:sp>
          <p:nvSpPr>
            <p:cNvPr id="234" name="TextBox 233"/>
            <p:cNvSpPr txBox="1"/>
            <p:nvPr/>
          </p:nvSpPr>
          <p:spPr>
            <a:xfrm>
              <a:off x="22762058" y="15712197"/>
              <a:ext cx="1234440" cy="43088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2800" b="1" i="0" dirty="0">
                  <a:solidFill>
                    <a:srgbClr val="202124"/>
                  </a:solidFill>
                  <a:latin typeface="Avenir Next"/>
                </a:rPr>
                <a:t>ΔWᵤ</a:t>
              </a:r>
              <a:r>
                <a:rPr sz="2400" b="1" i="0" dirty="0">
                  <a:solidFill>
                    <a:srgbClr val="202124"/>
                  </a:solidFill>
                  <a:latin typeface="Avenir Next"/>
                </a:rPr>
                <a:t> </a:t>
              </a:r>
              <a:r>
                <a:rPr lang="en-US" sz="2400" b="1" i="0" dirty="0">
                  <a:solidFill>
                    <a:srgbClr val="202124"/>
                  </a:solidFill>
                  <a:latin typeface="Avenir Next"/>
                </a:rPr>
                <a:t> </a:t>
              </a:r>
              <a:r>
                <a:rPr sz="2400" b="1" i="0" dirty="0">
                  <a:solidFill>
                    <a:srgbClr val="202124"/>
                  </a:solidFill>
                  <a:latin typeface="Avenir Next"/>
                </a:rPr>
                <a:t>=</a:t>
              </a:r>
              <a:r>
                <a:rPr lang="en-US" sz="2400" b="1" i="0" dirty="0">
                  <a:solidFill>
                    <a:srgbClr val="202124"/>
                  </a:solidFill>
                  <a:latin typeface="Avenir Next"/>
                </a:rPr>
                <a:t> </a:t>
              </a:r>
              <a:endParaRPr sz="2400" b="1" i="0" dirty="0">
                <a:solidFill>
                  <a:srgbClr val="202124"/>
                </a:solidFill>
                <a:latin typeface="Avenir Next"/>
              </a:endParaRPr>
            </a:p>
          </p:txBody>
        </p:sp>
        <p:sp>
          <p:nvSpPr>
            <p:cNvPr id="235" name="TextBox 234"/>
            <p:cNvSpPr txBox="1"/>
            <p:nvPr/>
          </p:nvSpPr>
          <p:spPr>
            <a:xfrm>
              <a:off x="23775349" y="15413325"/>
              <a:ext cx="4480560" cy="40011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2600" b="0" i="1" dirty="0" err="1">
                  <a:solidFill>
                    <a:srgbClr val="202124"/>
                  </a:solidFill>
                  <a:latin typeface="Avenir Next"/>
                </a:rPr>
                <a:t>Σ</a:t>
              </a:r>
              <a:r>
                <a:rPr sz="2600" b="0" i="1" dirty="0">
                  <a:solidFill>
                    <a:srgbClr val="202124"/>
                  </a:solidFill>
                  <a:latin typeface="Avenir Next"/>
                </a:rPr>
                <a:t>ᵢ Cᵢ(b) − </a:t>
              </a:r>
              <a:r>
                <a:rPr sz="2600" b="0" i="1" dirty="0" err="1">
                  <a:solidFill>
                    <a:srgbClr val="202124"/>
                  </a:solidFill>
                  <a:latin typeface="Avenir Next"/>
                </a:rPr>
                <a:t>Σ</a:t>
              </a:r>
              <a:r>
                <a:rPr sz="2600" b="0" i="1" dirty="0">
                  <a:solidFill>
                    <a:srgbClr val="202124"/>
                  </a:solidFill>
                  <a:latin typeface="Avenir Next"/>
                </a:rPr>
                <a:t>ᵢ Cᵢ(s)</a:t>
              </a:r>
            </a:p>
          </p:txBody>
        </p:sp>
        <p:sp>
          <p:nvSpPr>
            <p:cNvPr id="236" name="Rectangle 235"/>
            <p:cNvSpPr/>
            <p:nvPr/>
          </p:nvSpPr>
          <p:spPr>
            <a:xfrm>
              <a:off x="24003949" y="15937992"/>
              <a:ext cx="4023360" cy="25603"/>
            </a:xfrm>
            <a:prstGeom prst="rect">
              <a:avLst/>
            </a:prstGeom>
            <a:solidFill>
              <a:srgbClr val="20212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7" name="TextBox 236"/>
            <p:cNvSpPr txBox="1"/>
            <p:nvPr/>
          </p:nvSpPr>
          <p:spPr>
            <a:xfrm>
              <a:off x="23775349" y="16099125"/>
              <a:ext cx="4480560" cy="40011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2600" b="0" i="1">
                  <a:solidFill>
                    <a:srgbClr val="202124"/>
                  </a:solidFill>
                  <a:latin typeface="Avenir Next"/>
                </a:rPr>
                <a:t>maxᵢ Cᵢ(b)</a:t>
              </a:r>
            </a:p>
          </p:txBody>
        </p:sp>
      </p:grpSp>
      <p:sp>
        <p:nvSpPr>
          <p:cNvPr id="238" name="TextBox 237"/>
          <p:cNvSpPr txBox="1"/>
          <p:nvPr/>
        </p:nvSpPr>
        <p:spPr>
          <a:xfrm>
            <a:off x="914400" y="20116800"/>
            <a:ext cx="14081760" cy="6583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000000"/>
                </a:solidFill>
                <a:latin typeface="Avenir Next"/>
              </a:rPr>
              <a:t>Results: shallow prediction is enough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914400" y="20939760"/>
            <a:ext cx="14081760" cy="27431"/>
          </a:xfrm>
          <a:prstGeom prst="rect">
            <a:avLst/>
          </a:prstGeom>
          <a:solidFill>
            <a:srgbClr val="D8D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TextBox 239"/>
          <p:cNvSpPr txBox="1"/>
          <p:nvPr/>
        </p:nvSpPr>
        <p:spPr>
          <a:xfrm>
            <a:off x="914400" y="21305520"/>
            <a:ext cx="140817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02124"/>
                </a:solidFill>
                <a:latin typeface="Avenir Next"/>
              </a:rPr>
              <a:t>Prediction improves fit; rollout adds little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914400" y="29489400"/>
            <a:ext cx="140817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02124"/>
                </a:solidFill>
                <a:latin typeface="Avenir Next"/>
              </a:rPr>
              <a:t>Shallow prediction captures the scenario-level pattern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914400" y="35295840"/>
            <a:ext cx="140817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02124"/>
                </a:solidFill>
                <a:latin typeface="Avenir Next"/>
              </a:rPr>
              <a:t>Deeper rollout sharply increases compute time</a:t>
            </a:r>
          </a:p>
        </p:txBody>
      </p:sp>
      <p:pic>
        <p:nvPicPr>
          <p:cNvPr id="243" name="Picture 242" descr="01_fit_universalizability_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21899880"/>
            <a:ext cx="12252960" cy="5455458"/>
          </a:xfrm>
          <a:prstGeom prst="rect">
            <a:avLst/>
          </a:prstGeom>
        </p:spPr>
      </p:pic>
      <p:pic>
        <p:nvPicPr>
          <p:cNvPr id="244" name="Picture 243" descr="02_model_human_scatter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30083760"/>
            <a:ext cx="14036040" cy="4218827"/>
          </a:xfrm>
          <a:prstGeom prst="rect">
            <a:avLst/>
          </a:prstGeom>
        </p:spPr>
      </p:pic>
      <p:pic>
        <p:nvPicPr>
          <p:cNvPr id="245" name="Picture 244" descr="03_fit_vs_compute_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35890200"/>
            <a:ext cx="6675120" cy="5000089"/>
          </a:xfrm>
          <a:prstGeom prst="rect">
            <a:avLst/>
          </a:prstGeom>
        </p:spPr>
      </p:pic>
      <p:sp>
        <p:nvSpPr>
          <p:cNvPr id="246" name="TextBox 245"/>
          <p:cNvSpPr txBox="1"/>
          <p:nvPr/>
        </p:nvSpPr>
        <p:spPr>
          <a:xfrm>
            <a:off x="914400" y="27477720"/>
            <a:ext cx="140817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1">
                <a:solidFill>
                  <a:srgbClr val="5F6368"/>
                </a:solidFill>
                <a:latin typeface="Avenir Next"/>
              </a:rPr>
              <a:t>Dots show mean Pearson correlations; whiskers show 95% participant-bootstrap CIs; grey band: split-half noise ceiling.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914400" y="28117800"/>
            <a:ext cx="1408176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02124"/>
                </a:solidFill>
                <a:latin typeface="Avenir Next"/>
              </a:rPr>
              <a:t>L1 shallow − L0: Δr = .173, 95% CI [.142, .203], p &lt; .001
L1 rollout − L1 shallow: Δr = −.002, 95% CI [−.015, .013], p = .80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914400" y="34427160"/>
            <a:ext cx="140817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5F6368"/>
                </a:solidFill>
                <a:latin typeface="Avenir Next"/>
              </a:rPr>
              <a:t>Each point is one scenario; lines show OLS fits with 95% confidence bands.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8001000" y="36438840"/>
            <a:ext cx="6995160" cy="2377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5F6368"/>
                </a:solidFill>
                <a:latin typeface="Avenir Next"/>
              </a:rPr>
              <a:t>Median runtime and mean bootstrap r. Horizontal whiskers show runtime IQR; vertical whiskers show 95% bootstrap CIs.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15544800" y="20116800"/>
            <a:ext cx="13816584" cy="6583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000000"/>
                </a:solidFill>
                <a:latin typeface="Avenir Next"/>
              </a:rPr>
              <a:t>Universalization predicts moral judgments — in 20 countries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15544800" y="20939760"/>
            <a:ext cx="13816584" cy="27431"/>
          </a:xfrm>
          <a:prstGeom prst="rect">
            <a:avLst/>
          </a:prstGeom>
          <a:solidFill>
            <a:srgbClr val="D8D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TextBox 252"/>
          <p:cNvSpPr txBox="1"/>
          <p:nvPr/>
        </p:nvSpPr>
        <p:spPr>
          <a:xfrm>
            <a:off x="15544800" y="21305520"/>
            <a:ext cx="13816584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2000" b="0" i="0">
                <a:solidFill>
                  <a:srgbClr val="202124"/>
                </a:solidFill>
                <a:latin typeface="Avenir Next"/>
              </a:rPr>
              <a:t>Does the universalization score explain moral judgments beyond direct outcomes — welfare, harm, and inequality? ΔR² measures this added contribution.</a:t>
            </a:r>
          </a:p>
          <a:p>
            <a:r>
              <a:rPr sz="2000" b="0" i="0">
                <a:solidFill>
                  <a:srgbClr val="202124"/>
                </a:solidFill>
                <a:latin typeface="Avenir Next"/>
              </a:rPr>
              <a:t>1,924 participants in 20 countries; each rated 13 scenarios drawn from the 39 (Walls et al., 2026).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15544800" y="23362920"/>
            <a:ext cx="13816584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02124"/>
                </a:solidFill>
                <a:latin typeface="Avenir Next"/>
              </a:rPr>
              <a:t>US sample (Kwon et al., 2023)</a:t>
            </a:r>
          </a:p>
        </p:txBody>
      </p:sp>
      <p:pic>
        <p:nvPicPr>
          <p:cNvPr id="255" name="Picture 254" descr="04_moral_judgment_delta_r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544800" y="23911560"/>
            <a:ext cx="9692640" cy="4755956"/>
          </a:xfrm>
          <a:prstGeom prst="rect">
            <a:avLst/>
          </a:prstGeom>
        </p:spPr>
      </p:pic>
      <p:sp>
        <p:nvSpPr>
          <p:cNvPr id="256" name="TextBox 255"/>
          <p:cNvSpPr txBox="1"/>
          <p:nvPr/>
        </p:nvSpPr>
        <p:spPr>
          <a:xfrm>
            <a:off x="15544800" y="28803600"/>
            <a:ext cx="13816584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 dirty="0">
                <a:solidFill>
                  <a:srgbClr val="5F6368"/>
                </a:solidFill>
                <a:latin typeface="Avenir Next"/>
              </a:rPr>
              <a:t>Incremental R² from adding each universalization score beyond welfare, harm, and inequality; whiskers show 95% participant-bootstrap CIs.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23637240" y="30998160"/>
            <a:ext cx="5715000" cy="4206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02124"/>
                </a:solidFill>
                <a:latin typeface="Avenir Next"/>
              </a:rPr>
              <a:t>US: L1 shallow − L0 = .113 [.087, .140]; L1 shallow − rollout = .057 [.042, .074]
20 countries, pooled: L1 shallow − L0 = .052 [.044, .062]; L1 shallow − rollout = .033 [.028, .039]
All paired contrasts p &lt; .001.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15544800" y="29946600"/>
            <a:ext cx="13816584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02124"/>
                </a:solidFill>
                <a:latin typeface="Avenir Next"/>
              </a:rPr>
              <a:t>Across 20 countries (Walls et al., 2026)</a:t>
            </a:r>
          </a:p>
        </p:txBody>
      </p:sp>
      <p:pic>
        <p:nvPicPr>
          <p:cNvPr id="259" name="Picture 258" descr="optional_country_model_delta_r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544800" y="30540960"/>
            <a:ext cx="7647492" cy="9692640"/>
          </a:xfrm>
          <a:prstGeom prst="rect">
            <a:avLst/>
          </a:prstGeom>
        </p:spPr>
      </p:pic>
      <p:sp>
        <p:nvSpPr>
          <p:cNvPr id="260" name="TextBox 259"/>
          <p:cNvSpPr txBox="1"/>
          <p:nvPr/>
        </p:nvSpPr>
        <p:spPr>
          <a:xfrm>
            <a:off x="15544800" y="40370760"/>
            <a:ext cx="13816584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5F6368"/>
                </a:solidFill>
                <a:latin typeface="Avenir Next"/>
              </a:rPr>
              <a:t>Points show country-specific ΔR² with 95% participant-bootstrap CIs. The pooled estimate is shown first; individual-country estimates are noisier and presented descriptively.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23637240" y="35753040"/>
            <a:ext cx="5715000" cy="2194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5F6368"/>
                </a:solidFill>
                <a:latin typeface="Avenir Next"/>
              </a:rPr>
              <a:t>↳ Companion poster: Walls et al., “How universal is universalization?” — details of the cross-cultural experiment and outcome-based controls.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914400" y="41376600"/>
            <a:ext cx="28446984" cy="18288"/>
          </a:xfrm>
          <a:prstGeom prst="rect">
            <a:avLst/>
          </a:prstGeom>
          <a:solidFill>
            <a:srgbClr val="D8D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914400" y="41559480"/>
            <a:ext cx="2194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F6368"/>
                </a:solidFill>
                <a:latin typeface="Avenir Next"/>
              </a:rPr>
              <a:t>References: Levine et al. 2020 PNAS · Kwon et al. 2023 CogSci · André et al. 2022 · Levine et al. 2024 Cognition · Lie-Panis et al. 2026 PNAS · Walls et al. 2026 CogSci · Lieder &amp; Griffiths 2020 BBS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23408640" y="41559480"/>
            <a:ext cx="5943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>
                <a:solidFill>
                  <a:srgbClr val="5F6368"/>
                </a:solidFill>
                <a:latin typeface="Avenir Next"/>
              </a:rPr>
              <a:t>Contact: julien.lie-panis@ens.psl.eu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866</Words>
  <Application>Microsoft Macintosh PowerPoint</Application>
  <PresentationFormat>Custom</PresentationFormat>
  <Paragraphs>63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Avenir Next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Julien Panis-Lie</cp:lastModifiedBy>
  <cp:revision>32</cp:revision>
  <dcterms:created xsi:type="dcterms:W3CDTF">2026-07-15T19:14:06Z</dcterms:created>
  <dcterms:modified xsi:type="dcterms:W3CDTF">2026-07-16T01:08:34Z</dcterms:modified>
</cp:coreProperties>
</file>